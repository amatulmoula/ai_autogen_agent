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080ebce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080ebce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080ebce9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080ebce9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080ebce9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080ebce97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0" y="914400"/>
            <a:ext cx="54864" cy="301752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914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AutoGen-Based Multi-Agent Framework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60020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for Crime Data Analysis and Prediction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2331720"/>
            <a:ext cx="7772400" cy="27432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31520" y="246888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AI-Based Intelligent System for Crime Pattern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Presented by: Amatul Moula Shuva  |  Master's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31520" y="3337560"/>
            <a:ext cx="1828800" cy="34747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31520" y="33375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AutoGen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788920" y="3337560"/>
            <a:ext cx="1828800" cy="34747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788920" y="33375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46320" y="3337560"/>
            <a:ext cx="1828800" cy="34747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846320" y="33375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ML Models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903720" y="3337560"/>
            <a:ext cx="1828800" cy="34747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903720" y="33375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 Crime 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0040" y="77724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77724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20040" y="77724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50392" y="777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0040" y="132588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20040" y="132588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20040" y="132588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50392" y="13258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187452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040" y="187452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20040" y="187452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50392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Dataset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0040" y="242316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20040" y="242316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20040" y="242316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50392" y="2423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20040" y="297180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20040" y="297180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20040" y="297180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50392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0040" y="352044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20040" y="352044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20040" y="352044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50392" y="35204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Agent Roles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20040" y="406908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20040" y="406908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20040" y="406908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50392" y="4069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System Flowchart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20040" y="461772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20040" y="461772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20040" y="461772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50392" y="46177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 Models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892040" y="77724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892040" y="77724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892040" y="77724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22392" y="777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Model Comparison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892040" y="132588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892040" y="132588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892040" y="132588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22392" y="13258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Cross-Validation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892040" y="187452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892040" y="187452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892040" y="187452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22392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Classification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892040" y="242316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892040" y="242316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892040" y="242316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22392" y="2423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892040" y="297180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892040" y="297180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892040" y="297180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22392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892040" y="352044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892040" y="352044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892040" y="352044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22392" y="35204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892040" y="406908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892040" y="406908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892040" y="406908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22392" y="4069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892040" y="4617720"/>
            <a:ext cx="4206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892040" y="4617720"/>
            <a:ext cx="43891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892040" y="461772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22392" y="46177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4320" y="507493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74320" y="804672"/>
            <a:ext cx="41148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274320" y="804672"/>
            <a:ext cx="4114800" cy="365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274320" y="804672"/>
            <a:ext cx="54864" cy="171907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11480" y="8046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&amp; Complex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11480" y="1216152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Chicago Crime Dataset contains 7M+ records spanning 2001–Present. Manual analysis is infeasible at this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709160" y="804672"/>
            <a:ext cx="41148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709160" y="804672"/>
            <a:ext cx="4114800" cy="365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709160" y="804672"/>
            <a:ext cx="54864" cy="171907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846320" y="8046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Automation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846320" y="1216152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Traditional ML pipelines lack automated feedback loops. Steps (preprocess→train→evaluate) done manually without agent coordination.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74320" y="2724912"/>
            <a:ext cx="41148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74320" y="2724912"/>
            <a:ext cx="4114800" cy="365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274320" y="2724912"/>
            <a:ext cx="54864" cy="171907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11480" y="27249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Model Limitation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11480" y="3136392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Using a single ML model gives suboptimal results. No automatic mechanism exists to compare and select the best performing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709160" y="2724912"/>
            <a:ext cx="41148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709160" y="2724912"/>
            <a:ext cx="4114800" cy="3657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709160" y="2724912"/>
            <a:ext cx="54864" cy="171907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846320" y="27249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Prediction Efficiency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846320" y="3136392"/>
            <a:ext cx="3840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Without iterative improvement and cross-validation, models tend to overfit or underperform on unseen crime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74320" y="777240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74320" y="777240"/>
            <a:ext cx="457200" cy="7498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74320" y="77724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41248" y="81381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Analyze Crime Patterns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41248" y="1161288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10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Analysis Agent</a:t>
            </a: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to analyze crime type distribution and temporal patterns (hour, month, day of week) from Chicago Crime Dataset.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74320" y="1627632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274320" y="1627632"/>
            <a:ext cx="457200" cy="7498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274320" y="1627632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41248" y="16642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Multi-Model Prediction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41248" y="2011680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Predict crime type using 5 ML models: Decision Tree, Random Forest, Logistic Regression, Gradient Boosting, and XGBoost.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74320" y="2478024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274320" y="2478024"/>
            <a:ext cx="457200" cy="7498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274320" y="2478024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41248" y="25146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Automated Model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41248" y="2862072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Automatically compare all models and select the best-performing one based on test accuracy — without manual intervention.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74320" y="3328416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274320" y="3328416"/>
            <a:ext cx="457200" cy="7498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274320" y="3328416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41248" y="336499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Cross-Validation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41248" y="3712464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Apply 5-Fold Stratified Cross Validation to confirm model stability and prevent overfitting on the crime dataset.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74320" y="4178808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274320" y="4178808"/>
            <a:ext cx="457200" cy="7498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274320" y="4178808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41248" y="421538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Automated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41248" y="4562856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Generate comprehensive evaluation reports automatically using ReportAgent — including metrics, charts, and summaries.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Details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74320" y="749808"/>
            <a:ext cx="1993392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274320" y="77724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50,000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74320" y="13258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Sampled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450592" y="749808"/>
            <a:ext cx="1993392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2450592" y="77724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450592" y="13258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Feature Columns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26864" y="749808"/>
            <a:ext cx="1993392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626864" y="77724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2001–2024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626864" y="13258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Time Span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803136" y="749808"/>
            <a:ext cx="1993392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803136" y="77724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803136" y="13258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Target Classes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74320" y="18745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Dataset Info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274320" y="2286000"/>
            <a:ext cx="4114800" cy="38404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274320" y="2286000"/>
            <a:ext cx="54864" cy="38404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11480" y="228600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Source: Chicago Crime Dataset (2001–Present)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74320" y="2715768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74320" y="2715768"/>
            <a:ext cx="54864" cy="38404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11480" y="271576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Sample Size: 50,000 records (random_state=42)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74320" y="3145536"/>
            <a:ext cx="4114800" cy="38404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74320" y="3145536"/>
            <a:ext cx="54864" cy="38404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11480" y="314553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After cleaning (dropna): ~46,680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74320" y="3575304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274320" y="3575304"/>
            <a:ext cx="54864" cy="38404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11480" y="3575304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Target Variable: Crime Type (3 classes)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74320" y="4005072"/>
            <a:ext cx="4114800" cy="38404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274320" y="4005072"/>
            <a:ext cx="54864" cy="38404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11480" y="400507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Top 3 Classes: THEFT, BATTERY, CRIMINAL DAMAGE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74320" y="443484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74320" y="4434840"/>
            <a:ext cx="54864" cy="38404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11480" y="443484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Train/Test Split: 80% / 20% (stratified)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754880" y="18745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Features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754880" y="2286000"/>
            <a:ext cx="4114800" cy="38404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754880" y="2286000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892040" y="228600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Latitude, Longitude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754880" y="2715768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754880" y="2715768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892040" y="271576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Hour, Month, DayOfWeek, Year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754880" y="3145536"/>
            <a:ext cx="4114800" cy="38404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4754880" y="3145536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892040" y="314553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IsWeekend (engineered)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754880" y="3575304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754880" y="3575304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892040" y="3575304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Arrest (boolean)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754880" y="4005072"/>
            <a:ext cx="4114800" cy="38404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754880" y="4005072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4892040" y="400507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Location Code</a:t>
            </a: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(label encoded)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754880" y="443484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4754880" y="4434840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892040" y="443484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Beat, District, Ward, Community Area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274320" y="74980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274320" y="74980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74320" y="74980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115568" y="79552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Load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115568" y="109728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data_agent.load_data('Crimes_-_2001_to_Present.csv')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74320" y="180136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274320" y="180136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274320" y="180136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115568" y="18470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115568" y="214884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df.sample(50000, random_state=42)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74320" y="285292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274320" y="285292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274320" y="285292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115568" y="289864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Select Columns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15568" y="320040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11 key columns: Date, Primary Type, Lat, Lon, Arrest, Location Desc, Domestic, Beat, District, Ward, Community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274320" y="390448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274320" y="390448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274320" y="390448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115568" y="39502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Drop Nulls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115568" y="425196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df.dropna() applied twice — before and after datetime conversion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846320" y="74980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846320" y="74980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846320" y="74980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687568" y="79552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687568" y="109728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Hour, Month, DayOfWeek, Year extracted. IsWeekend = 1 if DayOfWeek ≥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846320" y="180136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846320" y="180136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846320" y="180136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687568" y="18470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Filter Top 3 Crimes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687568" y="214884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THEFT (9594), BATTERY, CRIMINAL DAMAGE selected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846320" y="285292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4846320" y="285292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846320" y="285292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687568" y="289864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Label Encoding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687568" y="320040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Location Code</a:t>
            </a: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= LabelEncoder(Location Description). Crime_Type = LabelEncoder(Primary Type)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846320" y="3904488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846320" y="3904488"/>
            <a:ext cx="777240" cy="96012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846320" y="3904488"/>
            <a:ext cx="777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687568" y="39502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Scaling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687568" y="4251960"/>
            <a:ext cx="3218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StandardScaler applied to all 14 features before model 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6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9" title="syste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00" y="453500"/>
            <a:ext cx="8671425" cy="475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 txBox="1"/>
          <p:nvPr/>
        </p:nvSpPr>
        <p:spPr>
          <a:xfrm>
            <a:off x="213500" y="0"/>
            <a:ext cx="8884800" cy="431100"/>
          </a:xfrm>
          <a:prstGeom prst="rect">
            <a:avLst/>
          </a:prstGeom>
          <a:solidFill>
            <a:srgbClr val="3D1A2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System </a:t>
            </a:r>
            <a:r>
              <a:rPr b="1" lang="en-US">
                <a:solidFill>
                  <a:schemeClr val="lt1"/>
                </a:solidFill>
              </a:rPr>
              <a:t> </a:t>
            </a: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Roles &amp; Responsibilities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274320" y="749808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274320" y="749808"/>
            <a:ext cx="192024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320040" y="76809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20040" y="116128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data_agent.py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286000" y="749808"/>
            <a:ext cx="6446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Loads Chicago Crime CSV via load_data(). Handles file I/O and returns the raw </a:t>
            </a:r>
            <a:r>
              <a:rPr lang="en-US" sz="1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 Frame</a:t>
            </a: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to main pipeline.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274320" y="1600200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274320" y="1600200"/>
            <a:ext cx="192024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20040" y="16184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20040" y="2011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analysis_agent.py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286000" y="1600200"/>
            <a:ext cx="6446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Runs analyze_crime_types(df) and analyze_by_hour(df) — generates crime distribution and hourly pattern charts.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274320" y="2450592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274320" y="2450592"/>
            <a:ext cx="192024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320040" y="246888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20040" y="28620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ml_agent.py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2286000" y="2450592"/>
            <a:ext cx="6446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Trains all 5 models: Decision Tree, Random Forest, Logistic Regression, Gradient Boosting, XGBoost. Selects best automatically.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274320" y="3300984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274320" y="3300984"/>
            <a:ext cx="192024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20040" y="331927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20040" y="37124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evaluation_agent.py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2286000" y="3300984"/>
            <a:ext cx="6446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Runs 5-Fold Stratified Cross Validation on best model. Computes accuracy_score, confusion matrix, classification report.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274320" y="4151376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274320" y="4151376"/>
            <a:ext cx="192024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320040" y="41696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320040" y="45628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report_agent.py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286000" y="4151376"/>
            <a:ext cx="6446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Calls generate_report(df) — outputs final crime data report with top crime types, stats, and summary metrics.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8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/>
        </p:nvSpPr>
        <p:spPr>
          <a:xfrm>
            <a:off x="1123500" y="-87250"/>
            <a:ext cx="7411800" cy="400200"/>
          </a:xfrm>
          <a:prstGeom prst="rect">
            <a:avLst/>
          </a:prstGeom>
          <a:solidFill>
            <a:srgbClr val="3D1A2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891B2"/>
                </a:solidFill>
              </a:rPr>
              <a:t>Project </a:t>
            </a:r>
            <a:r>
              <a:rPr b="1" lang="en-US">
                <a:solidFill>
                  <a:srgbClr val="0891B2"/>
                </a:solidFill>
              </a:rPr>
              <a:t>Workflow</a:t>
            </a:r>
            <a:endParaRPr b="1">
              <a:solidFill>
                <a:srgbClr val="0891B2"/>
              </a:solidFill>
            </a:endParaRPr>
          </a:p>
        </p:txBody>
      </p:sp>
      <p:pic>
        <p:nvPicPr>
          <p:cNvPr id="318" name="Google Shape;318;p11" title="flowcc3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4375"/>
            <a:ext cx="8554475" cy="476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 Used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274320" y="749808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274320" y="749808"/>
            <a:ext cx="155448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292608" y="768096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292608" y="1170432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DecisionTreeClassifier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920240" y="1115568"/>
            <a:ext cx="6812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Simple tree-based classifier. Splits data by best feature at each node. Fast but prone to overfitting.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274320" y="1600200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274320" y="1600200"/>
            <a:ext cx="155448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292608" y="1618488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292608" y="2020824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RandomForestClassifier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920240" y="1965960"/>
            <a:ext cx="6812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Ensemble of 300 decision trees. Reduces overfitting via bagging and feature randomness.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274320" y="2450592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274320" y="2450592"/>
            <a:ext cx="155448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292608" y="2468880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292608" y="2871216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LogisticRegression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920240" y="2816352"/>
            <a:ext cx="6812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Linear model for multi-class classification. Fast training, good baseline. Limited for non-linear patterns.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274320" y="3300984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274320" y="3300984"/>
            <a:ext cx="1554480" cy="7498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292608" y="3319272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292608" y="3721608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GradientBoostingClassifier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920240" y="3666744"/>
            <a:ext cx="6812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Builds trees sequentially — each corrects errors of the previous. BEST accuracy: 64.2%.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274320" y="4151376"/>
            <a:ext cx="859536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274320" y="4151376"/>
            <a:ext cx="1554480" cy="7498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292608" y="4169664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292608" y="4572000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XGBClassifier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920240" y="4517136"/>
            <a:ext cx="6812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Optimized gradient boosting with regularization. eval_metric=mlogloss. Close to Gradient Boosting.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10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 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384048" y="777240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2542032" y="960120"/>
            <a:ext cx="5943600" cy="338328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2542032" y="960120"/>
            <a:ext cx="3662172" cy="33832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6277356" y="960120"/>
            <a:ext cx="5943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53.4%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274320" y="1600200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384048" y="1600200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2542032" y="1783080"/>
            <a:ext cx="5943600" cy="338328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2542032" y="1783080"/>
            <a:ext cx="4299966" cy="33832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6915150" y="1783080"/>
            <a:ext cx="5943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62.7%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74320" y="2423160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384048" y="2423160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2542032" y="2606040"/>
            <a:ext cx="5943600" cy="338328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2542032" y="2606040"/>
            <a:ext cx="3847338" cy="33832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6462522" y="2606040"/>
            <a:ext cx="5943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56.1%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274320" y="3246120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384048" y="3246120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Gradient Boosting ★ BEST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542032" y="3429000"/>
            <a:ext cx="5943600" cy="338328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2542032" y="3429000"/>
            <a:ext cx="4402836" cy="3383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018020" y="3429000"/>
            <a:ext cx="5943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64.2%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274320" y="4069080"/>
            <a:ext cx="85953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384048" y="4069080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2542032" y="4251960"/>
            <a:ext cx="5943600" cy="338328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2542032" y="4251960"/>
            <a:ext cx="4375404" cy="33832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6990588" y="4251960"/>
            <a:ext cx="5943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63.8%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✓  Best Model: Gradient Boosting Classifier  |  Test Accuracy: 64.2%  |  All models trained on same 80/20 stratified 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11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365760" y="0"/>
            <a:ext cx="5486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Cross-Validation 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6858000" y="54864"/>
            <a:ext cx="2011680" cy="50292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6858000" y="54864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Avg: 64.25%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274320" y="694944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5-Fold Stratified Cross-Validation  |  Best Model: Gradient Boosting Classifier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11325" y="915100"/>
            <a:ext cx="8275500" cy="310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" name="Google Shape;398;p14"/>
          <p:cNvCxnSpPr/>
          <p:nvPr/>
        </p:nvCxnSpPr>
        <p:spPr>
          <a:xfrm>
            <a:off x="960120" y="4023360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14"/>
          <p:cNvSpPr/>
          <p:nvPr/>
        </p:nvSpPr>
        <p:spPr>
          <a:xfrm>
            <a:off x="475488" y="37399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4"/>
          <p:cNvCxnSpPr/>
          <p:nvPr/>
        </p:nvCxnSpPr>
        <p:spPr>
          <a:xfrm>
            <a:off x="960120" y="3268980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14"/>
          <p:cNvSpPr/>
          <p:nvPr/>
        </p:nvSpPr>
        <p:spPr>
          <a:xfrm>
            <a:off x="475488" y="31318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14"/>
          <p:cNvCxnSpPr/>
          <p:nvPr/>
        </p:nvCxnSpPr>
        <p:spPr>
          <a:xfrm>
            <a:off x="960120" y="2514600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4"/>
          <p:cNvSpPr/>
          <p:nvPr/>
        </p:nvSpPr>
        <p:spPr>
          <a:xfrm>
            <a:off x="475488" y="2377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4"/>
          <p:cNvCxnSpPr/>
          <p:nvPr/>
        </p:nvCxnSpPr>
        <p:spPr>
          <a:xfrm>
            <a:off x="960120" y="1760220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14"/>
          <p:cNvSpPr/>
          <p:nvPr/>
        </p:nvSpPr>
        <p:spPr>
          <a:xfrm>
            <a:off x="475488" y="16230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66%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14"/>
          <p:cNvCxnSpPr/>
          <p:nvPr/>
        </p:nvCxnSpPr>
        <p:spPr>
          <a:xfrm>
            <a:off x="960120" y="1005840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14"/>
          <p:cNvSpPr/>
          <p:nvPr/>
        </p:nvSpPr>
        <p:spPr>
          <a:xfrm>
            <a:off x="475488" y="8686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1051560" y="3209087"/>
            <a:ext cx="1143000" cy="859993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1005840" y="3163367"/>
            <a:ext cx="1143000" cy="859993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1005840" y="288904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64.14%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1005840" y="407822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Fold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2587752" y="2032254"/>
            <a:ext cx="1143000" cy="2036826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2542032" y="1986534"/>
            <a:ext cx="1143000" cy="2036826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2542032" y="171221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65.70%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2542032" y="1511046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▲ BEST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2542032" y="407822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Fold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123944" y="3224174"/>
            <a:ext cx="1143000" cy="844906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4078224" y="3178454"/>
            <a:ext cx="1143000" cy="84490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4078224" y="290413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64.12%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4123962" y="4078224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Fold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660136" y="3631540"/>
            <a:ext cx="1143000" cy="43754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5614416" y="3585820"/>
            <a:ext cx="1143000" cy="4375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5614416" y="331150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63.58%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614416" y="311033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▼ 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5614416" y="407822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Fold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7196328" y="3541014"/>
            <a:ext cx="1143000" cy="528066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7150608" y="3495294"/>
            <a:ext cx="1143000" cy="528066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7150608" y="322097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63.70%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7150608" y="407822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Fold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4"/>
          <p:cNvCxnSpPr/>
          <p:nvPr/>
        </p:nvCxnSpPr>
        <p:spPr>
          <a:xfrm>
            <a:off x="960120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4"/>
          <p:cNvCxnSpPr/>
          <p:nvPr/>
        </p:nvCxnSpPr>
        <p:spPr>
          <a:xfrm>
            <a:off x="1618488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14"/>
          <p:cNvCxnSpPr/>
          <p:nvPr/>
        </p:nvCxnSpPr>
        <p:spPr>
          <a:xfrm>
            <a:off x="2276856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4"/>
          <p:cNvCxnSpPr/>
          <p:nvPr/>
        </p:nvCxnSpPr>
        <p:spPr>
          <a:xfrm>
            <a:off x="2935224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14"/>
          <p:cNvCxnSpPr/>
          <p:nvPr/>
        </p:nvCxnSpPr>
        <p:spPr>
          <a:xfrm>
            <a:off x="3593592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14"/>
          <p:cNvCxnSpPr/>
          <p:nvPr/>
        </p:nvCxnSpPr>
        <p:spPr>
          <a:xfrm>
            <a:off x="4251960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14"/>
          <p:cNvCxnSpPr/>
          <p:nvPr/>
        </p:nvCxnSpPr>
        <p:spPr>
          <a:xfrm>
            <a:off x="4910328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14"/>
          <p:cNvCxnSpPr/>
          <p:nvPr/>
        </p:nvCxnSpPr>
        <p:spPr>
          <a:xfrm>
            <a:off x="5568696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14"/>
          <p:cNvCxnSpPr/>
          <p:nvPr/>
        </p:nvCxnSpPr>
        <p:spPr>
          <a:xfrm>
            <a:off x="6227064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14"/>
          <p:cNvCxnSpPr/>
          <p:nvPr/>
        </p:nvCxnSpPr>
        <p:spPr>
          <a:xfrm>
            <a:off x="6885432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14"/>
          <p:cNvCxnSpPr/>
          <p:nvPr/>
        </p:nvCxnSpPr>
        <p:spPr>
          <a:xfrm>
            <a:off x="7543800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14"/>
          <p:cNvCxnSpPr/>
          <p:nvPr/>
        </p:nvCxnSpPr>
        <p:spPr>
          <a:xfrm>
            <a:off x="8202168" y="3080385"/>
            <a:ext cx="411480" cy="0"/>
          </a:xfrm>
          <a:prstGeom prst="straightConnector1">
            <a:avLst/>
          </a:prstGeom>
          <a:noFill/>
          <a:ln cap="flat" cmpd="sng" w="228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14"/>
          <p:cNvSpPr/>
          <p:nvPr/>
        </p:nvSpPr>
        <p:spPr>
          <a:xfrm>
            <a:off x="274320" y="4133088"/>
            <a:ext cx="2029968" cy="7315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274320" y="4133088"/>
            <a:ext cx="2029968" cy="7315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274320" y="4206240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64.25%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274320" y="457200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Average CV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2487168" y="4133088"/>
            <a:ext cx="2029968" cy="7315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2487168" y="4133088"/>
            <a:ext cx="2029968" cy="7315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2487168" y="4206240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65.70%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2487168" y="457200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Best Fold Score (F2)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4700016" y="4133088"/>
            <a:ext cx="2029968" cy="7315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4700016" y="4133088"/>
            <a:ext cx="2029968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4700016" y="4206240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63.58%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4700016" y="457200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Lowest Fold Score (F4)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6912864" y="4133088"/>
            <a:ext cx="2029968" cy="7315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6912864" y="4133088"/>
            <a:ext cx="2029968" cy="7315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6912864" y="4206240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0.83%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6912864" y="457200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Variance (Std Dev)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280914" y="498348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12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365760" y="0"/>
            <a:ext cx="5486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Report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400800" y="91440"/>
            <a:ext cx="2514600" cy="43891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6400800" y="91440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Accuracy: 64%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Best Model: Gradient Boosting Classifier  |  Test Set: 4,668 samples  |  3-class crime type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228600" y="987552"/>
            <a:ext cx="2816352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228600" y="987552"/>
            <a:ext cx="2816352" cy="45720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301752" y="987552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320040" y="15361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2441448" y="153619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20040" y="1810512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320040" y="1810512"/>
            <a:ext cx="1975104" cy="20116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320040" y="21945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2441448" y="219456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0.69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320040" y="2468880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320040" y="2468880"/>
            <a:ext cx="1817096" cy="20116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320040" y="28529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2441448" y="285292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320040" y="3127248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320040" y="3127248"/>
            <a:ext cx="1896100" cy="20116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320040" y="3547872"/>
            <a:ext cx="2633472" cy="38404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320040" y="3547872"/>
            <a:ext cx="2633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Support: 1,693  |  Correct: 1170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3172968" y="987552"/>
            <a:ext cx="2816352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3172968" y="987552"/>
            <a:ext cx="2816352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3246120" y="987552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CRIMINAL DAMAGE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264408" y="15361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5385816" y="153619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0.48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3264408" y="1810512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3264408" y="1810512"/>
            <a:ext cx="1264067" cy="2011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3264408" y="21945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5385816" y="219456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3264408" y="2468880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3264408" y="2468880"/>
            <a:ext cx="842711" cy="2011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3264408" y="28529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5385816" y="285292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0.38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3264408" y="3127248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3264408" y="3127248"/>
            <a:ext cx="1000719" cy="2011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3264408" y="3547872"/>
            <a:ext cx="2633472" cy="384048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3264408" y="3547872"/>
            <a:ext cx="2633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Support: 1,056  |  Correct: 334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6117336" y="987552"/>
            <a:ext cx="2816352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6117336" y="987552"/>
            <a:ext cx="2816352" cy="4572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6190488" y="987552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6208776" y="15361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8330184" y="153619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6208776" y="1810512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6208776" y="1810512"/>
            <a:ext cx="1632753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5"/>
          <p:cNvSpPr/>
          <p:nvPr/>
        </p:nvSpPr>
        <p:spPr>
          <a:xfrm>
            <a:off x="6208776" y="21945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8330184" y="219456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6208776" y="2468880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6208776" y="2468880"/>
            <a:ext cx="2054108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6208776" y="28529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8330184" y="285292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0.69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6208776" y="3127248"/>
            <a:ext cx="2633472" cy="20116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6208776" y="3127248"/>
            <a:ext cx="1817096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6208776" y="3547872"/>
            <a:ext cx="2633472" cy="384048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6208776" y="3547872"/>
            <a:ext cx="2633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Support: 1,919  |  Correct: 1493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228600" y="4005072"/>
            <a:ext cx="1645920" cy="320040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274320" y="40050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1874520" y="4005072"/>
            <a:ext cx="1463040" cy="320040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1920240" y="40050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3337560" y="4005072"/>
            <a:ext cx="1463040" cy="320040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3383280" y="40050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4800600" y="4005072"/>
            <a:ext cx="1463040" cy="320040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4846320" y="40050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6263640" y="4005072"/>
            <a:ext cx="1463040" cy="320040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6309360" y="40050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228600" y="4325112"/>
            <a:ext cx="164592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274320" y="432511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1874520" y="4325112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1920240" y="432511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3337560" y="4325112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3383280" y="432511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4800600" y="4325112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4846320" y="432511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0.64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6263640" y="4325112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6309360" y="432511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4,668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228600" y="4581144"/>
            <a:ext cx="164592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274320" y="4581144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macro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1874520" y="4581144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1920240" y="458114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3337560" y="4581144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3383280" y="458114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4800600" y="4581144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4846320" y="458114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6263640" y="4581144"/>
            <a:ext cx="1463040" cy="237744"/>
          </a:xfrm>
          <a:prstGeom prst="rect">
            <a:avLst/>
          </a:prstGeom>
          <a:solidFill>
            <a:srgbClr val="F9FAFB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6309360" y="458114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4,668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228600" y="4837176"/>
            <a:ext cx="1645920" cy="23774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274320" y="4837176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weighted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1874520" y="4837176"/>
            <a:ext cx="1463040" cy="23774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1920240" y="48371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0.63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3337560" y="4837176"/>
            <a:ext cx="1463040" cy="23774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3383280" y="48371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0.64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4800600" y="4837176"/>
            <a:ext cx="1463040" cy="23774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4846320" y="48371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0.63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6263640" y="4837176"/>
            <a:ext cx="1463040" cy="23774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6309360" y="48371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4,668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13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6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Importance &amp; Confusion Matrix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274320" y="71323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Feature Importance (Gradient Boosting)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274320" y="10515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Domestic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1783080" y="108813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1783080" y="1088136"/>
            <a:ext cx="3657600" cy="1828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5486400" y="10515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40.1%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274320" y="1325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Location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1783080" y="136245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1783080" y="1362456"/>
            <a:ext cx="2453602" cy="18288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4282402" y="13258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26.9%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274320" y="16002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Longitude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1783080" y="163677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6"/>
          <p:cNvSpPr/>
          <p:nvPr/>
        </p:nvSpPr>
        <p:spPr>
          <a:xfrm>
            <a:off x="1783080" y="1636776"/>
            <a:ext cx="574635" cy="182880"/>
          </a:xfrm>
          <a:prstGeom prst="rect">
            <a:avLst/>
          </a:prstGeom>
          <a:solidFill>
            <a:srgbClr val="4B7BEC"/>
          </a:solidFill>
          <a:ln cap="flat" cmpd="sng" w="12700">
            <a:solidFill>
              <a:srgbClr val="4B7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2403435" y="16002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6.3%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274320" y="1874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Latitude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1783080" y="191109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1783080" y="1911096"/>
            <a:ext cx="565514" cy="182880"/>
          </a:xfrm>
          <a:prstGeom prst="rect">
            <a:avLst/>
          </a:prstGeom>
          <a:solidFill>
            <a:srgbClr val="4B7BEC"/>
          </a:solidFill>
          <a:ln cap="flat" cmpd="sng" w="12700">
            <a:solidFill>
              <a:srgbClr val="4B7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2394314" y="187452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6.2%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274320" y="21488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Hour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1783080" y="218541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783080" y="2185416"/>
            <a:ext cx="519908" cy="182880"/>
          </a:xfrm>
          <a:prstGeom prst="rect">
            <a:avLst/>
          </a:prstGeom>
          <a:solidFill>
            <a:srgbClr val="4B7BEC"/>
          </a:solidFill>
          <a:ln cap="flat" cmpd="sng" w="12700">
            <a:solidFill>
              <a:srgbClr val="4B7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2348708" y="21488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5.7%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274320" y="24231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Arrest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1783080" y="245973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1783080" y="2459736"/>
            <a:ext cx="310121" cy="182880"/>
          </a:xfrm>
          <a:prstGeom prst="rect">
            <a:avLst/>
          </a:prstGeom>
          <a:solidFill>
            <a:srgbClr val="4B7BEC"/>
          </a:solidFill>
          <a:ln cap="flat" cmpd="sng" w="12700">
            <a:solidFill>
              <a:srgbClr val="4B7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6"/>
          <p:cNvSpPr/>
          <p:nvPr/>
        </p:nvSpPr>
        <p:spPr>
          <a:xfrm>
            <a:off x="2138921" y="24231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3.4%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274320" y="26974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Beat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1783080" y="273405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6"/>
          <p:cNvSpPr/>
          <p:nvPr/>
        </p:nvSpPr>
        <p:spPr>
          <a:xfrm>
            <a:off x="1783080" y="2734056"/>
            <a:ext cx="218909" cy="18288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2047709" y="26974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2.4%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274320" y="29718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1783080" y="300837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6"/>
          <p:cNvSpPr/>
          <p:nvPr/>
        </p:nvSpPr>
        <p:spPr>
          <a:xfrm>
            <a:off x="1783080" y="3008376"/>
            <a:ext cx="209788" cy="18288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6"/>
          <p:cNvSpPr/>
          <p:nvPr/>
        </p:nvSpPr>
        <p:spPr>
          <a:xfrm>
            <a:off x="2038588" y="29718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2.3%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274320" y="32461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1783080" y="328269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6"/>
          <p:cNvSpPr/>
          <p:nvPr/>
        </p:nvSpPr>
        <p:spPr>
          <a:xfrm>
            <a:off x="1783080" y="3282696"/>
            <a:ext cx="155060" cy="18288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6"/>
          <p:cNvSpPr/>
          <p:nvPr/>
        </p:nvSpPr>
        <p:spPr>
          <a:xfrm>
            <a:off x="1983860" y="324612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1.7%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274320" y="35204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Community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1783080" y="355701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1783080" y="3557016"/>
            <a:ext cx="127697" cy="18288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6"/>
          <p:cNvSpPr/>
          <p:nvPr/>
        </p:nvSpPr>
        <p:spPr>
          <a:xfrm>
            <a:off x="1956497" y="35204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1.4%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274320" y="3794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1783080" y="383133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1783080" y="3831336"/>
            <a:ext cx="82091" cy="182880"/>
          </a:xfrm>
          <a:prstGeom prst="rect">
            <a:avLst/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6"/>
          <p:cNvSpPr/>
          <p:nvPr/>
        </p:nvSpPr>
        <p:spPr>
          <a:xfrm>
            <a:off x="1910891" y="37947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274320" y="40690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DayOfWeek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1783080" y="410565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1783080" y="4105656"/>
            <a:ext cx="45606" cy="182880"/>
          </a:xfrm>
          <a:prstGeom prst="rect">
            <a:avLst/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1874406" y="40690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274320" y="43434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District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1783080" y="437997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1783080" y="4379976"/>
            <a:ext cx="27364" cy="182880"/>
          </a:xfrm>
          <a:prstGeom prst="rect">
            <a:avLst/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1856164" y="43434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274320" y="46177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IsWeekend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783080" y="4654296"/>
            <a:ext cx="3749040" cy="18288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1783080" y="4654296"/>
            <a:ext cx="18242" cy="182880"/>
          </a:xfrm>
          <a:prstGeom prst="rect">
            <a:avLst/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1847042" y="461772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0.2%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5669280" y="7132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Confusion Matrix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5669280" y="1051560"/>
            <a:ext cx="822900" cy="621900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5696712" y="1051560"/>
            <a:ext cx="768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6492240" y="1051560"/>
            <a:ext cx="804672" cy="621792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6519672" y="1051560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 BAT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7296912" y="1051560"/>
            <a:ext cx="804672" cy="621792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7324344" y="1051560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 CD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8101584" y="1051560"/>
            <a:ext cx="804672" cy="621792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8129016" y="1051560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 THF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5669280" y="1709928"/>
            <a:ext cx="822960" cy="621792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5696712" y="1709928"/>
            <a:ext cx="76809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 BAT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6492240" y="1709928"/>
            <a:ext cx="804672" cy="62179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6"/>
          <p:cNvSpPr/>
          <p:nvPr/>
        </p:nvSpPr>
        <p:spPr>
          <a:xfrm>
            <a:off x="6519672" y="1709928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1170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7296912" y="1709928"/>
            <a:ext cx="804672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7324344" y="1709928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142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8101584" y="1709928"/>
            <a:ext cx="804672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6"/>
          <p:cNvSpPr/>
          <p:nvPr/>
        </p:nvSpPr>
        <p:spPr>
          <a:xfrm>
            <a:off x="8129016" y="1709928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5669280" y="2368296"/>
            <a:ext cx="822960" cy="621792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5696712" y="2368296"/>
            <a:ext cx="76809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 CD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6492240" y="2368296"/>
            <a:ext cx="804672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6519672" y="2368296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190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6"/>
          <p:cNvSpPr/>
          <p:nvPr/>
        </p:nvSpPr>
        <p:spPr>
          <a:xfrm>
            <a:off x="7296912" y="2368296"/>
            <a:ext cx="804672" cy="62179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7324344" y="2368296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334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8101584" y="2368296"/>
            <a:ext cx="804672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8129016" y="2368296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532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5669280" y="3026664"/>
            <a:ext cx="822960" cy="621792"/>
          </a:xfrm>
          <a:prstGeom prst="rect">
            <a:avLst/>
          </a:prstGeom>
          <a:solidFill>
            <a:srgbClr val="0F3460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6"/>
          <p:cNvSpPr/>
          <p:nvPr/>
        </p:nvSpPr>
        <p:spPr>
          <a:xfrm>
            <a:off x="5696712" y="3026664"/>
            <a:ext cx="76809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 THF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6"/>
          <p:cNvSpPr/>
          <p:nvPr/>
        </p:nvSpPr>
        <p:spPr>
          <a:xfrm>
            <a:off x="6492240" y="3026664"/>
            <a:ext cx="804672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6519672" y="3026664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7296912" y="3026664"/>
            <a:ext cx="804672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6"/>
          <p:cNvSpPr/>
          <p:nvPr/>
        </p:nvSpPr>
        <p:spPr>
          <a:xfrm>
            <a:off x="7324344" y="3026664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8101584" y="3026664"/>
            <a:ext cx="804672" cy="62179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8129016" y="3026664"/>
            <a:ext cx="7498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1493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6"/>
          <p:cNvSpPr/>
          <p:nvPr/>
        </p:nvSpPr>
        <p:spPr>
          <a:xfrm>
            <a:off x="5669280" y="374904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Diagonal = correct predictions.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THEFT (1493) and BATTERY (1170) classified well.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CRIMINAL DAMAGE (334) shows most confusion.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6"/>
          <p:cNvSpPr/>
          <p:nvPr/>
        </p:nvSpPr>
        <p:spPr>
          <a:xfrm>
            <a:off x="365760" y="4626864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Key Insight: 'Domestic' flag is the strongest predictor (40.1%) — domestic crimes have very distinct patterns.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Location Code</a:t>
            </a:r>
            <a:r>
              <a:rPr b="0" i="0" lang="en-US" sz="10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(26.9%) ranks 2nd.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6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14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9" name="Google Shape;669;p17"/>
          <p:cNvCxnSpPr/>
          <p:nvPr/>
        </p:nvCxnSpPr>
        <p:spPr>
          <a:xfrm>
            <a:off x="594360" y="1901952"/>
            <a:ext cx="7955280" cy="0"/>
          </a:xfrm>
          <a:prstGeom prst="straightConnector1">
            <a:avLst/>
          </a:prstGeom>
          <a:noFill/>
          <a:ln cap="flat" cmpd="sng" w="3175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0" name="Google Shape;670;p17"/>
          <p:cNvSpPr/>
          <p:nvPr/>
        </p:nvSpPr>
        <p:spPr>
          <a:xfrm>
            <a:off x="868680" y="1773936"/>
            <a:ext cx="256032" cy="256032"/>
          </a:xfrm>
          <a:prstGeom prst="ellipse">
            <a:avLst/>
          </a:prstGeom>
          <a:solidFill>
            <a:srgbClr val="E9456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347472" y="749808"/>
            <a:ext cx="132588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347472" y="749808"/>
            <a:ext cx="1325880" cy="2926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347472" y="74980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1–2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384048" y="1078992"/>
            <a:ext cx="1252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5" name="Google Shape;675;p17"/>
          <p:cNvCxnSpPr/>
          <p:nvPr/>
        </p:nvCxnSpPr>
        <p:spPr>
          <a:xfrm>
            <a:off x="996696" y="1664208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17"/>
          <p:cNvSpPr/>
          <p:nvPr/>
        </p:nvSpPr>
        <p:spPr>
          <a:xfrm>
            <a:off x="2276856" y="1773936"/>
            <a:ext cx="256032" cy="256032"/>
          </a:xfrm>
          <a:prstGeom prst="ellipse">
            <a:avLst/>
          </a:prstGeom>
          <a:solidFill>
            <a:srgbClr val="0F346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7" name="Google Shape;677;p17"/>
          <p:cNvCxnSpPr/>
          <p:nvPr/>
        </p:nvCxnSpPr>
        <p:spPr>
          <a:xfrm>
            <a:off x="2404872" y="20299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17"/>
          <p:cNvSpPr/>
          <p:nvPr/>
        </p:nvSpPr>
        <p:spPr>
          <a:xfrm>
            <a:off x="1755648" y="2194560"/>
            <a:ext cx="132588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7"/>
          <p:cNvSpPr/>
          <p:nvPr/>
        </p:nvSpPr>
        <p:spPr>
          <a:xfrm>
            <a:off x="1755648" y="2194560"/>
            <a:ext cx="1325880" cy="2926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7"/>
          <p:cNvSpPr/>
          <p:nvPr/>
        </p:nvSpPr>
        <p:spPr>
          <a:xfrm>
            <a:off x="1755648" y="219456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3–4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1792224" y="2523744"/>
            <a:ext cx="1252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3685032" y="1773936"/>
            <a:ext cx="256032" cy="256032"/>
          </a:xfrm>
          <a:prstGeom prst="ellipse">
            <a:avLst/>
          </a:prstGeom>
          <a:solidFill>
            <a:srgbClr val="0891B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7"/>
          <p:cNvSpPr/>
          <p:nvPr/>
        </p:nvSpPr>
        <p:spPr>
          <a:xfrm>
            <a:off x="3163824" y="749808"/>
            <a:ext cx="132588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7"/>
          <p:cNvSpPr/>
          <p:nvPr/>
        </p:nvSpPr>
        <p:spPr>
          <a:xfrm>
            <a:off x="3163824" y="749808"/>
            <a:ext cx="1325880" cy="2926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7"/>
          <p:cNvSpPr/>
          <p:nvPr/>
        </p:nvSpPr>
        <p:spPr>
          <a:xfrm>
            <a:off x="3163824" y="74980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5–6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7"/>
          <p:cNvSpPr/>
          <p:nvPr/>
        </p:nvSpPr>
        <p:spPr>
          <a:xfrm>
            <a:off x="3200400" y="1078992"/>
            <a:ext cx="1252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17"/>
          <p:cNvCxnSpPr/>
          <p:nvPr/>
        </p:nvCxnSpPr>
        <p:spPr>
          <a:xfrm>
            <a:off x="3813048" y="1664208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8" name="Google Shape;688;p17"/>
          <p:cNvSpPr/>
          <p:nvPr/>
        </p:nvSpPr>
        <p:spPr>
          <a:xfrm>
            <a:off x="5093208" y="1773936"/>
            <a:ext cx="256032" cy="256032"/>
          </a:xfrm>
          <a:prstGeom prst="ellipse">
            <a:avLst/>
          </a:prstGeom>
          <a:solidFill>
            <a:srgbClr val="7C3AE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9" name="Google Shape;689;p17"/>
          <p:cNvCxnSpPr/>
          <p:nvPr/>
        </p:nvCxnSpPr>
        <p:spPr>
          <a:xfrm>
            <a:off x="5221224" y="20299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17"/>
          <p:cNvSpPr/>
          <p:nvPr/>
        </p:nvSpPr>
        <p:spPr>
          <a:xfrm>
            <a:off x="4572000" y="2194560"/>
            <a:ext cx="132588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4572000" y="2194560"/>
            <a:ext cx="1325880" cy="2926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7"/>
          <p:cNvSpPr/>
          <p:nvPr/>
        </p:nvSpPr>
        <p:spPr>
          <a:xfrm>
            <a:off x="4572000" y="219456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7–8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4608576" y="2523744"/>
            <a:ext cx="1252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7"/>
          <p:cNvSpPr/>
          <p:nvPr/>
        </p:nvSpPr>
        <p:spPr>
          <a:xfrm>
            <a:off x="6501384" y="1773936"/>
            <a:ext cx="256032" cy="256032"/>
          </a:xfrm>
          <a:prstGeom prst="ellipse">
            <a:avLst/>
          </a:prstGeom>
          <a:solidFill>
            <a:srgbClr val="F59E0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5980176" y="749808"/>
            <a:ext cx="132588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7"/>
          <p:cNvSpPr/>
          <p:nvPr/>
        </p:nvSpPr>
        <p:spPr>
          <a:xfrm>
            <a:off x="5980176" y="749808"/>
            <a:ext cx="1325880" cy="2926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5980176" y="74980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9–10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7"/>
          <p:cNvSpPr/>
          <p:nvPr/>
        </p:nvSpPr>
        <p:spPr>
          <a:xfrm>
            <a:off x="6016752" y="1078992"/>
            <a:ext cx="1252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17"/>
          <p:cNvCxnSpPr/>
          <p:nvPr/>
        </p:nvCxnSpPr>
        <p:spPr>
          <a:xfrm>
            <a:off x="6629400" y="1664208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17"/>
          <p:cNvSpPr/>
          <p:nvPr/>
        </p:nvSpPr>
        <p:spPr>
          <a:xfrm>
            <a:off x="7909560" y="1773936"/>
            <a:ext cx="256032" cy="256032"/>
          </a:xfrm>
          <a:prstGeom prst="ellipse">
            <a:avLst/>
          </a:prstGeom>
          <a:solidFill>
            <a:srgbClr val="10B98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1" name="Google Shape;701;p17"/>
          <p:cNvCxnSpPr/>
          <p:nvPr/>
        </p:nvCxnSpPr>
        <p:spPr>
          <a:xfrm>
            <a:off x="8037576" y="20299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17"/>
          <p:cNvSpPr/>
          <p:nvPr/>
        </p:nvSpPr>
        <p:spPr>
          <a:xfrm>
            <a:off x="7388352" y="2194560"/>
            <a:ext cx="1325880" cy="914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7"/>
          <p:cNvSpPr/>
          <p:nvPr/>
        </p:nvSpPr>
        <p:spPr>
          <a:xfrm>
            <a:off x="7388352" y="2194560"/>
            <a:ext cx="1325880" cy="29260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7"/>
          <p:cNvSpPr/>
          <p:nvPr/>
        </p:nvSpPr>
        <p:spPr>
          <a:xfrm>
            <a:off x="7388352" y="219456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11–12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7"/>
          <p:cNvSpPr/>
          <p:nvPr/>
        </p:nvSpPr>
        <p:spPr>
          <a:xfrm>
            <a:off x="7424928" y="2523744"/>
            <a:ext cx="1252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7"/>
          <p:cNvSpPr/>
          <p:nvPr/>
        </p:nvSpPr>
        <p:spPr>
          <a:xfrm>
            <a:off x="347472" y="3246120"/>
            <a:ext cx="132588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7"/>
          <p:cNvSpPr/>
          <p:nvPr/>
        </p:nvSpPr>
        <p:spPr>
          <a:xfrm>
            <a:off x="347472" y="3246120"/>
            <a:ext cx="1325880" cy="54864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7"/>
          <p:cNvSpPr/>
          <p:nvPr/>
        </p:nvSpPr>
        <p:spPr>
          <a:xfrm>
            <a:off x="402336" y="3328416"/>
            <a:ext cx="1216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Identified problem, studied existing solutions, defined objectives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7"/>
          <p:cNvSpPr/>
          <p:nvPr/>
        </p:nvSpPr>
        <p:spPr>
          <a:xfrm>
            <a:off x="1755648" y="3246120"/>
            <a:ext cx="132588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7"/>
          <p:cNvSpPr/>
          <p:nvPr/>
        </p:nvSpPr>
        <p:spPr>
          <a:xfrm>
            <a:off x="1755648" y="3246120"/>
            <a:ext cx="1325880" cy="54864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7"/>
          <p:cNvSpPr/>
          <p:nvPr/>
        </p:nvSpPr>
        <p:spPr>
          <a:xfrm>
            <a:off x="1810512" y="3328416"/>
            <a:ext cx="1216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Found Chicago Crime Dataset, analyzed features &amp; data 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7"/>
          <p:cNvSpPr/>
          <p:nvPr/>
        </p:nvSpPr>
        <p:spPr>
          <a:xfrm>
            <a:off x="3163824" y="3246120"/>
            <a:ext cx="132588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7"/>
          <p:cNvSpPr/>
          <p:nvPr/>
        </p:nvSpPr>
        <p:spPr>
          <a:xfrm>
            <a:off x="3163824" y="3246120"/>
            <a:ext cx="132588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7"/>
          <p:cNvSpPr/>
          <p:nvPr/>
        </p:nvSpPr>
        <p:spPr>
          <a:xfrm>
            <a:off x="3218688" y="3328416"/>
            <a:ext cx="1216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Removed nulls, extracted hour/day/month, encoded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7"/>
          <p:cNvSpPr/>
          <p:nvPr/>
        </p:nvSpPr>
        <p:spPr>
          <a:xfrm>
            <a:off x="4572000" y="3246120"/>
            <a:ext cx="132588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7"/>
          <p:cNvSpPr/>
          <p:nvPr/>
        </p:nvSpPr>
        <p:spPr>
          <a:xfrm>
            <a:off x="4572000" y="3246120"/>
            <a:ext cx="132588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7"/>
          <p:cNvSpPr/>
          <p:nvPr/>
        </p:nvSpPr>
        <p:spPr>
          <a:xfrm>
            <a:off x="4626864" y="3328416"/>
            <a:ext cx="1216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Implemented DT, RF, LR, Gradient Boosting, XGBoost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7"/>
          <p:cNvSpPr/>
          <p:nvPr/>
        </p:nvSpPr>
        <p:spPr>
          <a:xfrm>
            <a:off x="5980176" y="3246120"/>
            <a:ext cx="132588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7"/>
          <p:cNvSpPr/>
          <p:nvPr/>
        </p:nvSpPr>
        <p:spPr>
          <a:xfrm>
            <a:off x="5980176" y="3246120"/>
            <a:ext cx="132588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7"/>
          <p:cNvSpPr/>
          <p:nvPr/>
        </p:nvSpPr>
        <p:spPr>
          <a:xfrm>
            <a:off x="6035040" y="3328416"/>
            <a:ext cx="1216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Cross Validation, Confusion Matrix, model comparison, feature importance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7"/>
          <p:cNvSpPr/>
          <p:nvPr/>
        </p:nvSpPr>
        <p:spPr>
          <a:xfrm>
            <a:off x="7388352" y="3246120"/>
            <a:ext cx="132588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7"/>
          <p:cNvSpPr/>
          <p:nvPr/>
        </p:nvSpPr>
        <p:spPr>
          <a:xfrm>
            <a:off x="7388352" y="3246120"/>
            <a:ext cx="132588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7"/>
          <p:cNvSpPr/>
          <p:nvPr/>
        </p:nvSpPr>
        <p:spPr>
          <a:xfrm>
            <a:off x="7443216" y="3328416"/>
            <a:ext cx="1216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Project report, presentation, final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7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15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8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8"/>
          <p:cNvSpPr/>
          <p:nvPr/>
        </p:nvSpPr>
        <p:spPr>
          <a:xfrm>
            <a:off x="457200" y="777240"/>
            <a:ext cx="8046720" cy="27432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457200" y="89611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8"/>
          <p:cNvSpPr/>
          <p:nvPr/>
        </p:nvSpPr>
        <p:spPr>
          <a:xfrm>
            <a:off x="457200" y="1280160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8"/>
          <p:cNvSpPr/>
          <p:nvPr/>
        </p:nvSpPr>
        <p:spPr>
          <a:xfrm>
            <a:off x="457200" y="1280160"/>
            <a:ext cx="54864" cy="5669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8"/>
          <p:cNvSpPr/>
          <p:nvPr/>
        </p:nvSpPr>
        <p:spPr>
          <a:xfrm>
            <a:off x="640080" y="128016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Built a 5-agent AutoGen framework: </a:t>
            </a:r>
            <a:r>
              <a:rPr lang="en-US" sz="10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Data Agent</a:t>
            </a: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Analysis Agent</a:t>
            </a: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, MLAgent, </a:t>
            </a:r>
            <a:r>
              <a:rPr lang="en-US" sz="10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Evaluation Agent</a:t>
            </a: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, ReportAgent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457200" y="1938528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8"/>
          <p:cNvSpPr/>
          <p:nvPr/>
        </p:nvSpPr>
        <p:spPr>
          <a:xfrm>
            <a:off x="457200" y="1938528"/>
            <a:ext cx="54864" cy="5669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640080" y="1938528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Compared 5 ML models — Gradient Boosting achieved best accuracy: 64.2% on test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8"/>
          <p:cNvSpPr/>
          <p:nvPr/>
        </p:nvSpPr>
        <p:spPr>
          <a:xfrm>
            <a:off x="457200" y="2596896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8"/>
          <p:cNvSpPr/>
          <p:nvPr/>
        </p:nvSpPr>
        <p:spPr>
          <a:xfrm>
            <a:off x="457200" y="2596896"/>
            <a:ext cx="54864" cy="5669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640080" y="259689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5-Fold Stratified CV confirmed stable performance: avg 64.25% across all folds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8"/>
          <p:cNvSpPr/>
          <p:nvPr/>
        </p:nvSpPr>
        <p:spPr>
          <a:xfrm>
            <a:off x="457200" y="3255264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8"/>
          <p:cNvSpPr/>
          <p:nvPr/>
        </p:nvSpPr>
        <p:spPr>
          <a:xfrm>
            <a:off x="457200" y="3255264"/>
            <a:ext cx="54864" cy="56692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640080" y="3255264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'Domestic' flag (40.1%) and </a:t>
            </a:r>
            <a:r>
              <a:rPr lang="en-US" sz="10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Location Code</a:t>
            </a: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(26.9%) are top predictors of crime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8"/>
          <p:cNvSpPr/>
          <p:nvPr/>
        </p:nvSpPr>
        <p:spPr>
          <a:xfrm>
            <a:off x="4754880" y="89611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8"/>
          <p:cNvSpPr/>
          <p:nvPr/>
        </p:nvSpPr>
        <p:spPr>
          <a:xfrm>
            <a:off x="4754880" y="1280160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4754880" y="1280160"/>
            <a:ext cx="54864" cy="5669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8"/>
          <p:cNvSpPr/>
          <p:nvPr/>
        </p:nvSpPr>
        <p:spPr>
          <a:xfrm>
            <a:off x="4937760" y="128016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Integrate Deep Learning (LSTM, Transformer) for temporal crime sequence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8"/>
          <p:cNvSpPr/>
          <p:nvPr/>
        </p:nvSpPr>
        <p:spPr>
          <a:xfrm>
            <a:off x="4754880" y="1938528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4754880" y="1938528"/>
            <a:ext cx="54864" cy="5669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8"/>
          <p:cNvSpPr/>
          <p:nvPr/>
        </p:nvSpPr>
        <p:spPr>
          <a:xfrm>
            <a:off x="4937760" y="1938528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Real-time crime data streaming via Chicago Open Data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8"/>
          <p:cNvSpPr/>
          <p:nvPr/>
        </p:nvSpPr>
        <p:spPr>
          <a:xfrm>
            <a:off x="4754880" y="2596896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4754880" y="2596896"/>
            <a:ext cx="54864" cy="5669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8"/>
          <p:cNvSpPr/>
          <p:nvPr/>
        </p:nvSpPr>
        <p:spPr>
          <a:xfrm>
            <a:off x="4937760" y="259689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Expand to multi-city datasets for generalized crime prediction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8"/>
          <p:cNvSpPr/>
          <p:nvPr/>
        </p:nvSpPr>
        <p:spPr>
          <a:xfrm>
            <a:off x="4754880" y="3255264"/>
            <a:ext cx="3931920" cy="566928"/>
          </a:xfrm>
          <a:prstGeom prst="rect">
            <a:avLst/>
          </a:prstGeom>
          <a:solidFill>
            <a:srgbClr val="16213E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8"/>
          <p:cNvSpPr/>
          <p:nvPr/>
        </p:nvSpPr>
        <p:spPr>
          <a:xfrm>
            <a:off x="4754880" y="3255264"/>
            <a:ext cx="54864" cy="5669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8"/>
          <p:cNvSpPr/>
          <p:nvPr/>
        </p:nvSpPr>
        <p:spPr>
          <a:xfrm>
            <a:off x="4937760" y="3255264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Interactive GIS dashboard for law enforcement visualization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8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9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274320" y="777240"/>
            <a:ext cx="41148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9"/>
          <p:cNvSpPr/>
          <p:nvPr/>
        </p:nvSpPr>
        <p:spPr>
          <a:xfrm>
            <a:off x="274320" y="777240"/>
            <a:ext cx="411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777240" y="82296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Chicago Data Portal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777240" y="109728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'Crimes – 2001 to Present.' City of Chicago Open Data. https://data.cityofchicago.org/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9"/>
          <p:cNvSpPr/>
          <p:nvPr/>
        </p:nvSpPr>
        <p:spPr>
          <a:xfrm>
            <a:off x="274320" y="1481328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9"/>
          <p:cNvSpPr/>
          <p:nvPr/>
        </p:nvSpPr>
        <p:spPr>
          <a:xfrm>
            <a:off x="274320" y="1481328"/>
            <a:ext cx="41148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274320" y="1481328"/>
            <a:ext cx="411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9"/>
          <p:cNvSpPr/>
          <p:nvPr/>
        </p:nvSpPr>
        <p:spPr>
          <a:xfrm>
            <a:off x="777240" y="152704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Wu, Q. et al. (2023)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777240" y="1801368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'AutoGen: Enabling Next-Gen LLM Applications via Multi-Agent Conversation.' Microsoft Research. arXiv:2308.08155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9"/>
          <p:cNvSpPr/>
          <p:nvPr/>
        </p:nvSpPr>
        <p:spPr>
          <a:xfrm>
            <a:off x="274320" y="2185416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9"/>
          <p:cNvSpPr/>
          <p:nvPr/>
        </p:nvSpPr>
        <p:spPr>
          <a:xfrm>
            <a:off x="274320" y="2185416"/>
            <a:ext cx="41148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274320" y="2185416"/>
            <a:ext cx="411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9"/>
          <p:cNvSpPr/>
          <p:nvPr/>
        </p:nvSpPr>
        <p:spPr>
          <a:xfrm>
            <a:off x="777240" y="223113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Breiman, L. (2001)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777240" y="2505456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'Random Forests.' Machine Learning, 45(1), 5-32. Springer.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9"/>
          <p:cNvSpPr/>
          <p:nvPr/>
        </p:nvSpPr>
        <p:spPr>
          <a:xfrm>
            <a:off x="274320" y="2889504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9"/>
          <p:cNvSpPr/>
          <p:nvPr/>
        </p:nvSpPr>
        <p:spPr>
          <a:xfrm>
            <a:off x="274320" y="2889504"/>
            <a:ext cx="41148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9"/>
          <p:cNvSpPr/>
          <p:nvPr/>
        </p:nvSpPr>
        <p:spPr>
          <a:xfrm>
            <a:off x="274320" y="2889504"/>
            <a:ext cx="411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/>
          <p:nvPr/>
        </p:nvSpPr>
        <p:spPr>
          <a:xfrm>
            <a:off x="777240" y="293522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Friedman, J.H. (2001)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9"/>
          <p:cNvSpPr/>
          <p:nvPr/>
        </p:nvSpPr>
        <p:spPr>
          <a:xfrm>
            <a:off x="777240" y="3209544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'Greedy Function Approximation: A Gradient Boosting Machine.' Annals of Statistics, 29(5), 1189-1232.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/>
          <p:nvPr/>
        </p:nvSpPr>
        <p:spPr>
          <a:xfrm>
            <a:off x="274320" y="3593592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9"/>
          <p:cNvSpPr/>
          <p:nvPr/>
        </p:nvSpPr>
        <p:spPr>
          <a:xfrm>
            <a:off x="274320" y="3593592"/>
            <a:ext cx="41148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9"/>
          <p:cNvSpPr/>
          <p:nvPr/>
        </p:nvSpPr>
        <p:spPr>
          <a:xfrm>
            <a:off x="274320" y="3593592"/>
            <a:ext cx="411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9"/>
          <p:cNvSpPr/>
          <p:nvPr/>
        </p:nvSpPr>
        <p:spPr>
          <a:xfrm>
            <a:off x="777240" y="36393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Chen &amp; Guestrin (2016)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9"/>
          <p:cNvSpPr/>
          <p:nvPr/>
        </p:nvSpPr>
        <p:spPr>
          <a:xfrm>
            <a:off x="777240" y="391363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'XGBoost: A Scalable Tree Boosting System.' KDD 2016. arXiv:1603.02754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9"/>
          <p:cNvSpPr/>
          <p:nvPr/>
        </p:nvSpPr>
        <p:spPr>
          <a:xfrm>
            <a:off x="274320" y="4297680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9"/>
          <p:cNvSpPr/>
          <p:nvPr/>
        </p:nvSpPr>
        <p:spPr>
          <a:xfrm>
            <a:off x="274320" y="4297680"/>
            <a:ext cx="411480" cy="621792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9"/>
          <p:cNvSpPr/>
          <p:nvPr/>
        </p:nvSpPr>
        <p:spPr>
          <a:xfrm>
            <a:off x="274320" y="4297680"/>
            <a:ext cx="411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9"/>
          <p:cNvSpPr/>
          <p:nvPr/>
        </p:nvSpPr>
        <p:spPr>
          <a:xfrm>
            <a:off x="777240" y="43434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3460"/>
                </a:solidFill>
                <a:latin typeface="Calibri"/>
                <a:ea typeface="Calibri"/>
                <a:cs typeface="Calibri"/>
                <a:sym typeface="Calibri"/>
              </a:rPr>
              <a:t>Scikit-learn Developers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9"/>
          <p:cNvSpPr/>
          <p:nvPr/>
        </p:nvSpPr>
        <p:spPr>
          <a:xfrm>
            <a:off x="777240" y="461772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'Scikit-learn: Machine Learning in Python.' (2024). https://scikit-learn.org/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9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AI Project | AutoGen Crime Prediction  |  17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